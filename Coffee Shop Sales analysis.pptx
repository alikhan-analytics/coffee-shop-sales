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7" r:id="rId1"/>
  </p:sldMasterIdLst>
  <p:sldIdLst>
    <p:sldId id="271" r:id="rId2"/>
    <p:sldId id="257" r:id="rId3"/>
    <p:sldId id="258" r:id="rId4"/>
    <p:sldId id="259" r:id="rId5"/>
    <p:sldId id="260" r:id="rId6"/>
    <p:sldId id="261" r:id="rId7"/>
    <p:sldId id="266" r:id="rId8"/>
    <p:sldId id="267" r:id="rId9"/>
    <p:sldId id="268" r:id="rId10"/>
    <p:sldId id="269" r:id="rId11"/>
    <p:sldId id="27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E6CC"/>
    <a:srgbClr val="E3C9A1"/>
    <a:srgbClr val="FFF9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04BD49-F547-41DF-A31E-88DB80CF2870}" v="236" dt="2026-06-22T09:51:49.7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7B7A6-71D6-4657-9D4B-BB17BE40E7AD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E2F1-F558-4F89-B363-10512A8A52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1194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7B7A6-71D6-4657-9D4B-BB17BE40E7AD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E2F1-F558-4F89-B363-10512A8A52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6251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7B7A6-71D6-4657-9D4B-BB17BE40E7AD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E2F1-F558-4F89-B363-10512A8A52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8854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7B7A6-71D6-4657-9D4B-BB17BE40E7AD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E2F1-F558-4F89-B363-10512A8A52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4244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7B7A6-71D6-4657-9D4B-BB17BE40E7AD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E2F1-F558-4F89-B363-10512A8A52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1812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7B7A6-71D6-4657-9D4B-BB17BE40E7AD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E2F1-F558-4F89-B363-10512A8A52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9048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7B7A6-71D6-4657-9D4B-BB17BE40E7AD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E2F1-F558-4F89-B363-10512A8A52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70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7B7A6-71D6-4657-9D4B-BB17BE40E7AD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E2F1-F558-4F89-B363-10512A8A52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007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7B7A6-71D6-4657-9D4B-BB17BE40E7AD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E2F1-F558-4F89-B363-10512A8A52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9109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7B7A6-71D6-4657-9D4B-BB17BE40E7AD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E2F1-F558-4F89-B363-10512A8A52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8262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7B7A6-71D6-4657-9D4B-BB17BE40E7AD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E2F1-F558-4F89-B363-10512A8A52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4534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7B7A6-71D6-4657-9D4B-BB17BE40E7AD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2DE2F1-F558-4F89-B363-10512A8A52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30755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  <p:sldLayoutId id="2147483803" r:id="rId6"/>
    <p:sldLayoutId id="2147483804" r:id="rId7"/>
    <p:sldLayoutId id="2147483805" r:id="rId8"/>
    <p:sldLayoutId id="2147483806" r:id="rId9"/>
    <p:sldLayoutId id="2147483807" r:id="rId10"/>
    <p:sldLayoutId id="214748380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Roasted coffee beans filling the frame">
            <a:extLst>
              <a:ext uri="{FF2B5EF4-FFF2-40B4-BE49-F238E27FC236}">
                <a16:creationId xmlns:a16="http://schemas.microsoft.com/office/drawing/2014/main" id="{189E3F0E-CA64-37B9-5CC8-91B5D3FC33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0CE8BAA-B6E1-5DD7-7C13-8FEB323D7CF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E4313A-6FBF-107F-4329-459309AB06AD}"/>
              </a:ext>
            </a:extLst>
          </p:cNvPr>
          <p:cNvSpPr txBox="1"/>
          <p:nvPr/>
        </p:nvSpPr>
        <p:spPr>
          <a:xfrm>
            <a:off x="857250" y="1508760"/>
            <a:ext cx="1148029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/>
              <a:t>Coffee Shop Sales Dashboard</a:t>
            </a:r>
            <a:endParaRPr lang="en-IN" sz="6600" b="1" dirty="0"/>
          </a:p>
          <a:p>
            <a:endParaRPr lang="en-IN" sz="6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8FCC02-F487-07A6-F62B-694F6BFACEEC}"/>
              </a:ext>
            </a:extLst>
          </p:cNvPr>
          <p:cNvSpPr txBox="1"/>
          <p:nvPr/>
        </p:nvSpPr>
        <p:spPr>
          <a:xfrm>
            <a:off x="534924" y="3347602"/>
            <a:ext cx="1212494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 Business Insights &amp; Performance Overview  </a:t>
            </a:r>
            <a:br>
              <a:rPr lang="en-US" sz="4800" b="1" dirty="0"/>
            </a:br>
            <a:r>
              <a:rPr lang="en-US" sz="4800" b="1" dirty="0"/>
              <a:t> By [Ali Uddin Khan] – Aspiring Data Analyst</a:t>
            </a:r>
            <a:endParaRPr lang="en-IN" sz="4800" b="1" dirty="0"/>
          </a:p>
          <a:p>
            <a:endParaRPr lang="en-IN" sz="4800" b="1" dirty="0"/>
          </a:p>
          <a:p>
            <a:endParaRPr lang="en-IN" sz="4800" b="1" dirty="0"/>
          </a:p>
        </p:txBody>
      </p:sp>
    </p:spTree>
    <p:extLst>
      <p:ext uri="{BB962C8B-B14F-4D97-AF65-F5344CB8AC3E}">
        <p14:creationId xmlns:p14="http://schemas.microsoft.com/office/powerpoint/2010/main" val="2680639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ffee Cup Wallpaper (63+ images)">
            <a:extLst>
              <a:ext uri="{FF2B5EF4-FFF2-40B4-BE49-F238E27FC236}">
                <a16:creationId xmlns:a16="http://schemas.microsoft.com/office/drawing/2014/main" id="{45C20172-ECA6-5B3D-0975-4C8A419F8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49513A-19D1-4091-8D7C-1EA77ECF53DB}"/>
              </a:ext>
            </a:extLst>
          </p:cNvPr>
          <p:cNvSpPr txBox="1"/>
          <p:nvPr/>
        </p:nvSpPr>
        <p:spPr>
          <a:xfrm>
            <a:off x="0" y="0"/>
            <a:ext cx="12192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7200" b="1" dirty="0"/>
          </a:p>
          <a:p>
            <a:endParaRPr lang="en-US" sz="7200" b="1" dirty="0">
              <a:solidFill>
                <a:srgbClr val="FFF9F0"/>
              </a:solidFill>
            </a:endParaRPr>
          </a:p>
          <a:p>
            <a:endParaRPr lang="en-US" sz="72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BEA12C-1ED2-B397-7D7D-2F1651CFBC5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1C26CC-21F4-E61E-EA76-F5A0E389C5E5}"/>
              </a:ext>
            </a:extLst>
          </p:cNvPr>
          <p:cNvSpPr txBox="1"/>
          <p:nvPr/>
        </p:nvSpPr>
        <p:spPr>
          <a:xfrm>
            <a:off x="0" y="82296"/>
            <a:ext cx="54223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chemeClr val="bg1"/>
                </a:solidFill>
              </a:rPr>
              <a:t>introduction</a:t>
            </a:r>
            <a:endParaRPr lang="en-IN" sz="72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9E9413-D3D7-737B-7C9A-257E81D9BDB5}"/>
              </a:ext>
            </a:extLst>
          </p:cNvPr>
          <p:cNvSpPr txBox="1"/>
          <p:nvPr/>
        </p:nvSpPr>
        <p:spPr>
          <a:xfrm>
            <a:off x="246888" y="1819656"/>
            <a:ext cx="1155801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E3C9A1"/>
                </a:solidFill>
              </a:rPr>
              <a:t>Objective : To analyze sales, customer footfall, and product performance across multiple store locations. </a:t>
            </a:r>
          </a:p>
          <a:p>
            <a:endParaRPr lang="en-US" sz="2800" b="1" dirty="0">
              <a:solidFill>
                <a:srgbClr val="E3C9A1"/>
              </a:solidFill>
            </a:endParaRPr>
          </a:p>
          <a:p>
            <a:r>
              <a:rPr lang="en-US" sz="2800" b="1" dirty="0">
                <a:solidFill>
                  <a:srgbClr val="E3C9A1"/>
                </a:solidFill>
              </a:rPr>
              <a:t> </a:t>
            </a:r>
          </a:p>
          <a:p>
            <a:r>
              <a:rPr lang="en-US" sz="2800" b="1" dirty="0">
                <a:solidFill>
                  <a:srgbClr val="E3C9A1"/>
                </a:solidFill>
              </a:rPr>
              <a:t>Tools Used : Excel  </a:t>
            </a:r>
          </a:p>
          <a:p>
            <a:endParaRPr lang="en-US" sz="2800" b="1" dirty="0">
              <a:solidFill>
                <a:srgbClr val="E3C9A1"/>
              </a:solidFill>
            </a:endParaRPr>
          </a:p>
          <a:p>
            <a:endParaRPr lang="en-US" sz="2800" b="1" dirty="0">
              <a:solidFill>
                <a:srgbClr val="E3C9A1"/>
              </a:solidFill>
            </a:endParaRPr>
          </a:p>
          <a:p>
            <a:r>
              <a:rPr lang="en-US" sz="2800" b="1" dirty="0">
                <a:solidFill>
                  <a:srgbClr val="E3C9A1"/>
                </a:solidFill>
              </a:rPr>
              <a:t>Focus : Identifying key drivers of revenue and customer behavior.</a:t>
            </a:r>
          </a:p>
          <a:p>
            <a:endParaRPr lang="en-IN" sz="2800" b="1" dirty="0">
              <a:solidFill>
                <a:srgbClr val="E3C9A1"/>
              </a:solidFill>
            </a:endParaRPr>
          </a:p>
          <a:p>
            <a:endParaRPr lang="en-IN" sz="2800" dirty="0">
              <a:solidFill>
                <a:srgbClr val="E3C9A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6858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5000">
        <p159:morph option="byObject"/>
      </p:transition>
    </mc:Choice>
    <mc:Fallback xmlns=""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58 Coffee Powerpoint Template Free Download | Heritagechristiancollege">
            <a:extLst>
              <a:ext uri="{FF2B5EF4-FFF2-40B4-BE49-F238E27FC236}">
                <a16:creationId xmlns:a16="http://schemas.microsoft.com/office/drawing/2014/main" id="{E2702AF4-64A7-42C4-A7EE-6D36D1F9D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D6B840-4CDF-78D5-8E37-D30DD3E78A51}"/>
              </a:ext>
            </a:extLst>
          </p:cNvPr>
          <p:cNvSpPr txBox="1"/>
          <p:nvPr/>
        </p:nvSpPr>
        <p:spPr>
          <a:xfrm>
            <a:off x="219456" y="1152144"/>
            <a:ext cx="60258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4B2E2E"/>
                </a:solidFill>
              </a:rPr>
              <a:t>Key Metrics Overview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2FC80D-9EBF-7958-70D6-3314B6F9AFA0}"/>
              </a:ext>
            </a:extLst>
          </p:cNvPr>
          <p:cNvSpPr txBox="1"/>
          <p:nvPr/>
        </p:nvSpPr>
        <p:spPr>
          <a:xfrm>
            <a:off x="188976" y="2121408"/>
            <a:ext cx="11814048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4B2E2E"/>
                </a:solidFill>
              </a:rPr>
              <a:t>Total Sales </a:t>
            </a:r>
            <a:r>
              <a:rPr lang="en-US" sz="2800" dirty="0">
                <a:solidFill>
                  <a:schemeClr val="bg1"/>
                </a:solidFill>
              </a:rPr>
              <a:t>: $698,812.33 </a:t>
            </a:r>
          </a:p>
          <a:p>
            <a:r>
              <a:rPr lang="en-US" sz="2800" dirty="0">
                <a:solidFill>
                  <a:schemeClr val="bg1"/>
                </a:solidFill>
              </a:rPr>
              <a:t> </a:t>
            </a:r>
          </a:p>
          <a:p>
            <a:r>
              <a:rPr lang="en-US" sz="2800" b="1" dirty="0">
                <a:solidFill>
                  <a:srgbClr val="4B2E2E"/>
                </a:solidFill>
              </a:rPr>
              <a:t>Total Footfall </a:t>
            </a:r>
            <a:r>
              <a:rPr lang="en-US" sz="2800" dirty="0">
                <a:solidFill>
                  <a:schemeClr val="bg1"/>
                </a:solidFill>
              </a:rPr>
              <a:t>: 149,116  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rgbClr val="4B2E2E"/>
                </a:solidFill>
              </a:rPr>
              <a:t>Average Bill per Person </a:t>
            </a:r>
            <a:r>
              <a:rPr lang="en-US" sz="2800" dirty="0"/>
              <a:t>: </a:t>
            </a:r>
            <a:r>
              <a:rPr lang="en-US" sz="2800" dirty="0">
                <a:solidFill>
                  <a:schemeClr val="bg1"/>
                </a:solidFill>
              </a:rPr>
              <a:t>4.69 </a:t>
            </a:r>
          </a:p>
          <a:p>
            <a:r>
              <a:rPr lang="en-US" sz="2800" dirty="0">
                <a:solidFill>
                  <a:schemeClr val="bg1"/>
                </a:solidFill>
              </a:rPr>
              <a:t> </a:t>
            </a:r>
          </a:p>
          <a:p>
            <a:r>
              <a:rPr lang="en-US" sz="2800" b="1" dirty="0">
                <a:solidFill>
                  <a:srgbClr val="4B2E2E"/>
                </a:solidFill>
              </a:rPr>
              <a:t>Average Order per Person </a:t>
            </a:r>
            <a:r>
              <a:rPr lang="en-US" sz="2800" dirty="0"/>
              <a:t>: </a:t>
            </a:r>
            <a:r>
              <a:rPr lang="en-US" sz="2800" dirty="0">
                <a:solidFill>
                  <a:schemeClr val="bg1"/>
                </a:solidFill>
              </a:rPr>
              <a:t>1.44  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rgbClr val="4B2E2E"/>
                </a:solidFill>
              </a:rPr>
              <a:t>Insight </a:t>
            </a:r>
            <a:r>
              <a:rPr lang="en-US" sz="2800" dirty="0"/>
              <a:t>: </a:t>
            </a:r>
            <a:r>
              <a:rPr lang="en-US" sz="2800" dirty="0">
                <a:solidFill>
                  <a:schemeClr val="bg1"/>
                </a:solidFill>
              </a:rPr>
              <a:t>Strong customer base with consistent spending patterns.</a:t>
            </a:r>
          </a:p>
          <a:p>
            <a:endParaRPr lang="en-IN" dirty="0"/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1773962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5000">
        <p159:morph option="byObject"/>
      </p:transition>
    </mc:Choice>
    <mc:Fallback xmlns=""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ffee Background Stock Vector (Royalty Free) 112476482 | Shutterstock">
            <a:extLst>
              <a:ext uri="{FF2B5EF4-FFF2-40B4-BE49-F238E27FC236}">
                <a16:creationId xmlns:a16="http://schemas.microsoft.com/office/drawing/2014/main" id="{0AFE7AA1-BDFF-2E1E-C33E-847E19A13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686E72-A5E5-18DF-87CF-114BBC541EB7}"/>
              </a:ext>
            </a:extLst>
          </p:cNvPr>
          <p:cNvSpPr txBox="1"/>
          <p:nvPr/>
        </p:nvSpPr>
        <p:spPr>
          <a:xfrm>
            <a:off x="0" y="1179576"/>
            <a:ext cx="89885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4B2E2E"/>
                </a:solidFill>
              </a:rPr>
              <a:t>Sales Trend By Hour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99D4FF-8555-0F1A-FB8F-748E86F256EF}"/>
              </a:ext>
            </a:extLst>
          </p:cNvPr>
          <p:cNvSpPr txBox="1"/>
          <p:nvPr/>
        </p:nvSpPr>
        <p:spPr>
          <a:xfrm>
            <a:off x="82296" y="2386584"/>
            <a:ext cx="118872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4B2E2E"/>
                </a:solidFill>
              </a:rPr>
              <a:t>Observation </a:t>
            </a:r>
            <a:r>
              <a:rPr lang="en-US" sz="3200" dirty="0">
                <a:solidFill>
                  <a:schemeClr val="bg1"/>
                </a:solidFill>
              </a:rPr>
              <a:t>: Orders peak between 9–10 AM, decline after 6 PM.</a:t>
            </a:r>
          </a:p>
          <a:p>
            <a:r>
              <a:rPr lang="en-US" sz="3200" dirty="0">
                <a:solidFill>
                  <a:schemeClr val="bg1"/>
                </a:solidFill>
              </a:rPr>
              <a:t>  </a:t>
            </a:r>
          </a:p>
          <a:p>
            <a:r>
              <a:rPr lang="en-US" sz="3200" b="1" dirty="0">
                <a:solidFill>
                  <a:srgbClr val="4B2E2E"/>
                </a:solidFill>
              </a:rPr>
              <a:t>Insight </a:t>
            </a:r>
            <a:r>
              <a:rPr lang="en-US" sz="3200" dirty="0">
                <a:solidFill>
                  <a:schemeClr val="bg1"/>
                </a:solidFill>
              </a:rPr>
              <a:t>:</a:t>
            </a:r>
            <a:r>
              <a:rPr lang="en-US" sz="3200" dirty="0"/>
              <a:t> </a:t>
            </a:r>
            <a:r>
              <a:rPr lang="en-US" sz="3200" dirty="0">
                <a:solidFill>
                  <a:schemeClr val="bg1"/>
                </a:solidFill>
              </a:rPr>
              <a:t>Morning rush hour is the most profitable period. </a:t>
            </a:r>
          </a:p>
          <a:p>
            <a:r>
              <a:rPr lang="en-US" sz="3200" dirty="0">
                <a:solidFill>
                  <a:schemeClr val="bg1"/>
                </a:solidFill>
              </a:rPr>
              <a:t> </a:t>
            </a:r>
          </a:p>
          <a:p>
            <a:r>
              <a:rPr lang="en-US" sz="3200" b="1" dirty="0">
                <a:solidFill>
                  <a:srgbClr val="4B2E2E"/>
                </a:solidFill>
              </a:rPr>
              <a:t>Recommendation </a:t>
            </a:r>
            <a:r>
              <a:rPr lang="en-US" sz="3200" dirty="0">
                <a:solidFill>
                  <a:schemeClr val="bg1"/>
                </a:solidFill>
              </a:rPr>
              <a:t>: Optimize staffing and promotions during peak hours.</a:t>
            </a:r>
          </a:p>
          <a:p>
            <a:endParaRPr lang="en-IN" sz="3200" dirty="0"/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2123174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5000">
        <p159:morph option="byObject"/>
      </p:transition>
    </mc:Choice>
    <mc:Fallback xmlns=""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8 Coffee Powerpoint Template Free Download | Heritagechristiancollege">
            <a:extLst>
              <a:ext uri="{FF2B5EF4-FFF2-40B4-BE49-F238E27FC236}">
                <a16:creationId xmlns:a16="http://schemas.microsoft.com/office/drawing/2014/main" id="{2C9D12BD-B869-AF02-F0D3-19971A2FD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3B40F75-C587-FBC4-5824-82A9FB4B393E}"/>
              </a:ext>
            </a:extLst>
          </p:cNvPr>
          <p:cNvSpPr txBox="1"/>
          <p:nvPr/>
        </p:nvSpPr>
        <p:spPr>
          <a:xfrm>
            <a:off x="109728" y="859536"/>
            <a:ext cx="65562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4B2E2E"/>
                </a:solidFill>
              </a:rPr>
              <a:t>Category Contribution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F1E344-2FDB-39C9-A3FC-326743675C1E}"/>
              </a:ext>
            </a:extLst>
          </p:cNvPr>
          <p:cNvSpPr txBox="1"/>
          <p:nvPr/>
        </p:nvSpPr>
        <p:spPr>
          <a:xfrm>
            <a:off x="182880" y="2488513"/>
            <a:ext cx="1108252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4B2E2E"/>
                </a:solidFill>
              </a:rPr>
              <a:t>Coffee</a:t>
            </a:r>
            <a:r>
              <a:rPr lang="en-US" sz="2800" dirty="0">
                <a:solidFill>
                  <a:schemeClr val="bg1"/>
                </a:solidFill>
              </a:rPr>
              <a:t>: 39% |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4B2E2E"/>
                </a:solidFill>
              </a:rPr>
              <a:t>Drinking Chocolate</a:t>
            </a:r>
            <a:r>
              <a:rPr lang="en-US" sz="2800" dirty="0">
                <a:solidFill>
                  <a:schemeClr val="bg1"/>
                </a:solidFill>
              </a:rPr>
              <a:t>: 28% |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4B2E2E"/>
                </a:solidFill>
              </a:rPr>
              <a:t>Bakery</a:t>
            </a:r>
            <a:r>
              <a:rPr lang="en-US" sz="2800" dirty="0">
                <a:solidFill>
                  <a:schemeClr val="bg1"/>
                </a:solidFill>
              </a:rPr>
              <a:t>: 12% |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4B2E2E"/>
                </a:solidFill>
              </a:rPr>
              <a:t>Others</a:t>
            </a:r>
            <a:r>
              <a:rPr lang="en-US" sz="2800" dirty="0">
                <a:solidFill>
                  <a:schemeClr val="bg1"/>
                </a:solidFill>
              </a:rPr>
              <a:t>: 21%</a:t>
            </a:r>
            <a:r>
              <a:rPr lang="en-US" sz="2800" dirty="0"/>
              <a:t> </a:t>
            </a:r>
          </a:p>
          <a:p>
            <a:r>
              <a:rPr lang="en-US" sz="2800" dirty="0">
                <a:solidFill>
                  <a:schemeClr val="bg1"/>
                </a:solidFill>
              </a:rPr>
              <a:t> </a:t>
            </a:r>
          </a:p>
          <a:p>
            <a:r>
              <a:rPr lang="en-US" sz="2800" b="1" dirty="0">
                <a:solidFill>
                  <a:srgbClr val="4B2E2E"/>
                </a:solidFill>
              </a:rPr>
              <a:t>Insight</a:t>
            </a:r>
            <a:r>
              <a:rPr lang="en-US" sz="2800" dirty="0">
                <a:solidFill>
                  <a:schemeClr val="bg1"/>
                </a:solidFill>
              </a:rPr>
              <a:t>: Coffee is the primary revenue driver.  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rgbClr val="4B2E2E"/>
                </a:solidFill>
              </a:rPr>
              <a:t>Recommendation</a:t>
            </a:r>
            <a:r>
              <a:rPr lang="en-US" sz="2800" dirty="0">
                <a:solidFill>
                  <a:schemeClr val="bg1"/>
                </a:solidFill>
              </a:rPr>
              <a:t>: Expand coffee offerings and bundle with bakery items.</a:t>
            </a:r>
          </a:p>
          <a:p>
            <a:endParaRPr lang="en-IN" sz="2800" dirty="0">
              <a:solidFill>
                <a:schemeClr val="bg1"/>
              </a:solidFill>
            </a:endParaRPr>
          </a:p>
          <a:p>
            <a:endParaRPr lang="en-IN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14388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5000">
        <p159:morph option="byObject"/>
      </p:transition>
    </mc:Choice>
    <mc:Fallback xmlns=""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6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F43932A-152F-DF5D-6E05-F277D1D3E0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25"/>
            <a:ext cx="12191998" cy="677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5206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5000">
        <p159:morph option="byObject"/>
      </p:transition>
    </mc:Choice>
    <mc:Fallback xmlns="">
      <p:transition spd="slow" advClick="0" advTm="5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ffee Background Stock Vector (Royalty Free) 112476482 | Shutterstock">
            <a:extLst>
              <a:ext uri="{FF2B5EF4-FFF2-40B4-BE49-F238E27FC236}">
                <a16:creationId xmlns:a16="http://schemas.microsoft.com/office/drawing/2014/main" id="{5BE09536-64D0-2EF0-B3B0-C3171734D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51B17E5-1AB9-A1A2-F2AA-694E9E387BBF}"/>
              </a:ext>
            </a:extLst>
          </p:cNvPr>
          <p:cNvSpPr txBox="1"/>
          <p:nvPr/>
        </p:nvSpPr>
        <p:spPr>
          <a:xfrm>
            <a:off x="0" y="1252728"/>
            <a:ext cx="59679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solidFill>
                  <a:srgbClr val="4B2E2E"/>
                </a:solidFill>
              </a:rPr>
              <a:t>Order Size Distribution</a:t>
            </a:r>
            <a:endParaRPr lang="en-IN" sz="4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AF5E8D-D340-A2B2-7D58-6486F5D9C400}"/>
              </a:ext>
            </a:extLst>
          </p:cNvPr>
          <p:cNvSpPr txBox="1"/>
          <p:nvPr/>
        </p:nvSpPr>
        <p:spPr>
          <a:xfrm>
            <a:off x="0" y="2871216"/>
            <a:ext cx="1208227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4B2E2E"/>
                </a:solidFill>
              </a:rPr>
              <a:t>Small</a:t>
            </a:r>
            <a:r>
              <a:rPr lang="en-US" sz="3200" dirty="0">
                <a:solidFill>
                  <a:schemeClr val="bg1"/>
                </a:solidFill>
              </a:rPr>
              <a:t>: 31% | </a:t>
            </a:r>
            <a:r>
              <a:rPr lang="en-US" sz="3200" b="1" dirty="0">
                <a:solidFill>
                  <a:srgbClr val="4B2E2E"/>
                </a:solidFill>
              </a:rPr>
              <a:t>Regular</a:t>
            </a:r>
            <a:r>
              <a:rPr lang="en-US" sz="3200" dirty="0">
                <a:solidFill>
                  <a:schemeClr val="bg1"/>
                </a:solidFill>
              </a:rPr>
              <a:t>: 30% | </a:t>
            </a:r>
            <a:r>
              <a:rPr lang="en-US" sz="3200" b="1" dirty="0">
                <a:solidFill>
                  <a:srgbClr val="4B2E2E"/>
                </a:solidFill>
              </a:rPr>
              <a:t>Large</a:t>
            </a:r>
            <a:r>
              <a:rPr lang="en-US" sz="3200" dirty="0">
                <a:solidFill>
                  <a:schemeClr val="bg1"/>
                </a:solidFill>
              </a:rPr>
              <a:t>: 30% | Undefined: 9% </a:t>
            </a:r>
          </a:p>
          <a:p>
            <a:r>
              <a:rPr lang="en-US" sz="3200" dirty="0">
                <a:solidFill>
                  <a:schemeClr val="bg1"/>
                </a:solidFill>
              </a:rPr>
              <a:t> </a:t>
            </a:r>
          </a:p>
          <a:p>
            <a:r>
              <a:rPr lang="en-US" sz="3200" b="1" dirty="0">
                <a:solidFill>
                  <a:srgbClr val="4B2E2E"/>
                </a:solidFill>
              </a:rPr>
              <a:t>Insight</a:t>
            </a:r>
            <a:r>
              <a:rPr lang="en-US" sz="3200" dirty="0">
                <a:solidFill>
                  <a:schemeClr val="bg1"/>
                </a:solidFill>
              </a:rPr>
              <a:t>: Balanced preference across sizes.</a:t>
            </a:r>
          </a:p>
          <a:p>
            <a:r>
              <a:rPr lang="en-US" sz="3200" dirty="0">
                <a:solidFill>
                  <a:schemeClr val="bg1"/>
                </a:solidFill>
              </a:rPr>
              <a:t>  </a:t>
            </a:r>
          </a:p>
          <a:p>
            <a:r>
              <a:rPr lang="en-US" sz="3200" b="1" dirty="0">
                <a:solidFill>
                  <a:srgbClr val="4B2E2E"/>
                </a:solidFill>
              </a:rPr>
              <a:t>Recommendation</a:t>
            </a:r>
            <a:r>
              <a:rPr lang="en-US" sz="3200" dirty="0">
                <a:solidFill>
                  <a:schemeClr val="bg1"/>
                </a:solidFill>
              </a:rPr>
              <a:t>: Introduce loyalty rewards for upsizing orders.</a:t>
            </a:r>
          </a:p>
          <a:p>
            <a:endParaRPr lang="en-IN" sz="3200" dirty="0">
              <a:solidFill>
                <a:schemeClr val="bg1"/>
              </a:solidFill>
            </a:endParaRPr>
          </a:p>
          <a:p>
            <a:endParaRPr lang="en-IN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77969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5000">
        <p159:morph option="byObject"/>
      </p:transition>
    </mc:Choice>
    <mc:Fallback xmlns="">
      <p:transition spd="slow" advClick="0" advTm="5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ffee Background Stock Vector (Royalty Free) 112476482 | Shutterstock">
            <a:extLst>
              <a:ext uri="{FF2B5EF4-FFF2-40B4-BE49-F238E27FC236}">
                <a16:creationId xmlns:a16="http://schemas.microsoft.com/office/drawing/2014/main" id="{5E6C4D61-C7AD-B15C-AF0B-BBA78E4A3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6EE62E5-1521-9005-455A-7F615CA95BE9}"/>
              </a:ext>
            </a:extLst>
          </p:cNvPr>
          <p:cNvSpPr txBox="1"/>
          <p:nvPr/>
        </p:nvSpPr>
        <p:spPr>
          <a:xfrm>
            <a:off x="64008" y="1376029"/>
            <a:ext cx="5559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4B2E2E"/>
                </a:solidFill>
              </a:rPr>
              <a:t>Store Location Performance</a:t>
            </a:r>
            <a:endParaRPr lang="en-IN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73724E-F94F-C38F-08C0-16E28227C936}"/>
              </a:ext>
            </a:extLst>
          </p:cNvPr>
          <p:cNvSpPr txBox="1"/>
          <p:nvPr/>
        </p:nvSpPr>
        <p:spPr>
          <a:xfrm>
            <a:off x="64008" y="3101352"/>
            <a:ext cx="1180795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4B2E2E"/>
                </a:solidFill>
              </a:rPr>
              <a:t>Astoria</a:t>
            </a:r>
            <a:r>
              <a:rPr lang="en-US" sz="2400" dirty="0">
                <a:solidFill>
                  <a:schemeClr val="bg1"/>
                </a:solidFill>
              </a:rPr>
              <a:t>: $232,243.91 | </a:t>
            </a:r>
            <a:r>
              <a:rPr lang="en-US" sz="2400" b="1" dirty="0">
                <a:solidFill>
                  <a:srgbClr val="4B2E2E"/>
                </a:solidFill>
              </a:rPr>
              <a:t>Hell’s Kitchen</a:t>
            </a:r>
            <a:r>
              <a:rPr lang="en-US" sz="2400" dirty="0">
                <a:solidFill>
                  <a:schemeClr val="bg1"/>
                </a:solidFill>
              </a:rPr>
              <a:t>: $236,511.17 | Lower Manhattan: $230,057.25 </a:t>
            </a:r>
          </a:p>
          <a:p>
            <a:r>
              <a:rPr lang="en-US" sz="2400" dirty="0">
                <a:solidFill>
                  <a:schemeClr val="bg1"/>
                </a:solidFill>
              </a:rPr>
              <a:t> </a:t>
            </a:r>
          </a:p>
          <a:p>
            <a:r>
              <a:rPr lang="en-US" sz="2400" b="1" dirty="0">
                <a:solidFill>
                  <a:srgbClr val="4B2E2E"/>
                </a:solidFill>
              </a:rPr>
              <a:t>Insight</a:t>
            </a:r>
            <a:r>
              <a:rPr lang="en-US" sz="2400" dirty="0">
                <a:solidFill>
                  <a:schemeClr val="bg1"/>
                </a:solidFill>
              </a:rPr>
              <a:t>: Hell’s Kitchen slightly leads in sales and footfall. </a:t>
            </a:r>
          </a:p>
          <a:p>
            <a:r>
              <a:rPr lang="en-US" sz="2400" dirty="0">
                <a:solidFill>
                  <a:schemeClr val="bg1"/>
                </a:solidFill>
              </a:rPr>
              <a:t> </a:t>
            </a:r>
          </a:p>
          <a:p>
            <a:r>
              <a:rPr lang="en-US" sz="2400" b="1" dirty="0">
                <a:solidFill>
                  <a:srgbClr val="4B2E2E"/>
                </a:solidFill>
              </a:rPr>
              <a:t>Recommendation</a:t>
            </a:r>
            <a:r>
              <a:rPr lang="en-US" sz="2400" dirty="0">
                <a:solidFill>
                  <a:schemeClr val="bg1"/>
                </a:solidFill>
              </a:rPr>
              <a:t>: Replicate successful strategies across other locations.</a:t>
            </a:r>
          </a:p>
          <a:p>
            <a:endParaRPr lang="en-IN" sz="2400" dirty="0">
              <a:solidFill>
                <a:schemeClr val="bg1"/>
              </a:solidFill>
            </a:endParaRP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874553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ffee Background Stock Vector (Royalty Free) 112476482 | Shutterstock">
            <a:extLst>
              <a:ext uri="{FF2B5EF4-FFF2-40B4-BE49-F238E27FC236}">
                <a16:creationId xmlns:a16="http://schemas.microsoft.com/office/drawing/2014/main" id="{BBADA4A4-0AE1-A013-A4D7-ED5239E09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BE87BAF-66AA-00CD-4E80-174ADD29507A}"/>
              </a:ext>
            </a:extLst>
          </p:cNvPr>
          <p:cNvSpPr txBox="1"/>
          <p:nvPr/>
        </p:nvSpPr>
        <p:spPr>
          <a:xfrm>
            <a:off x="0" y="996696"/>
            <a:ext cx="575157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b="1" dirty="0">
                <a:solidFill>
                  <a:srgbClr val="4B2E2E"/>
                </a:solidFill>
              </a:rPr>
              <a:t>Top 5 Products</a:t>
            </a:r>
            <a:endParaRPr lang="en-IN" sz="6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CE9864-B3F2-8193-D4A0-51CE7416D5A8}"/>
              </a:ext>
            </a:extLst>
          </p:cNvPr>
          <p:cNvSpPr txBox="1"/>
          <p:nvPr/>
        </p:nvSpPr>
        <p:spPr>
          <a:xfrm>
            <a:off x="137160" y="2588520"/>
            <a:ext cx="1205484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4B2E2E"/>
                </a:solidFill>
              </a:rPr>
              <a:t>1 . </a:t>
            </a:r>
            <a:r>
              <a:rPr lang="en-US" sz="1600" b="1" dirty="0">
                <a:solidFill>
                  <a:srgbClr val="4B2E2E"/>
                </a:solidFill>
              </a:rPr>
              <a:t>Barista Espresso</a:t>
            </a:r>
            <a:r>
              <a:rPr lang="en-US" sz="1600" dirty="0"/>
              <a:t> </a:t>
            </a:r>
            <a:r>
              <a:rPr lang="en-US" sz="1600" dirty="0">
                <a:solidFill>
                  <a:schemeClr val="bg1"/>
                </a:solidFill>
              </a:rPr>
              <a:t>– $91,406.20  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2. </a:t>
            </a:r>
            <a:r>
              <a:rPr lang="en-US" sz="1600" b="1" dirty="0">
                <a:solidFill>
                  <a:srgbClr val="4B2E2E"/>
                </a:solidFill>
              </a:rPr>
              <a:t>Brewed Chai Tea</a:t>
            </a:r>
            <a:r>
              <a:rPr lang="en-US" sz="1600" dirty="0"/>
              <a:t> </a:t>
            </a:r>
            <a:r>
              <a:rPr lang="en-US" sz="1600" dirty="0">
                <a:solidFill>
                  <a:schemeClr val="bg1"/>
                </a:solidFill>
              </a:rPr>
              <a:t>– $77,081.95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</a:t>
            </a:r>
          </a:p>
          <a:p>
            <a:r>
              <a:rPr lang="en-US" sz="1600" dirty="0">
                <a:solidFill>
                  <a:schemeClr val="bg1"/>
                </a:solidFill>
              </a:rPr>
              <a:t>3. </a:t>
            </a:r>
            <a:r>
              <a:rPr lang="en-US" sz="1600" b="1" dirty="0">
                <a:solidFill>
                  <a:srgbClr val="4B2E2E"/>
                </a:solidFill>
              </a:rPr>
              <a:t>Hot</a:t>
            </a:r>
            <a:r>
              <a:rPr lang="en-US" sz="1600" dirty="0"/>
              <a:t> </a:t>
            </a:r>
            <a:r>
              <a:rPr lang="en-US" sz="1600" b="1" dirty="0">
                <a:solidFill>
                  <a:srgbClr val="4B2E2E"/>
                </a:solidFill>
              </a:rPr>
              <a:t>Chocolate</a:t>
            </a:r>
            <a:r>
              <a:rPr lang="en-US" sz="1600" dirty="0"/>
              <a:t> </a:t>
            </a:r>
            <a:r>
              <a:rPr lang="en-US" sz="1600" dirty="0">
                <a:solidFill>
                  <a:schemeClr val="bg1"/>
                </a:solidFill>
              </a:rPr>
              <a:t>– $72,416.00  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4. </a:t>
            </a:r>
            <a:r>
              <a:rPr lang="en-US" sz="1600" b="1" dirty="0">
                <a:solidFill>
                  <a:srgbClr val="4B2E2E"/>
                </a:solidFill>
              </a:rPr>
              <a:t>Gourmet Brewed Coffee</a:t>
            </a:r>
            <a:r>
              <a:rPr lang="en-US" sz="1600" dirty="0"/>
              <a:t> </a:t>
            </a:r>
            <a:r>
              <a:rPr lang="en-US" sz="1600" dirty="0">
                <a:solidFill>
                  <a:schemeClr val="bg1"/>
                </a:solidFill>
              </a:rPr>
              <a:t>– $70,034.60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</a:t>
            </a:r>
          </a:p>
          <a:p>
            <a:r>
              <a:rPr lang="en-US" sz="1600" dirty="0">
                <a:solidFill>
                  <a:schemeClr val="bg1"/>
                </a:solidFill>
              </a:rPr>
              <a:t>5.</a:t>
            </a:r>
            <a:r>
              <a:rPr lang="en-US" sz="1600" dirty="0"/>
              <a:t> </a:t>
            </a:r>
            <a:r>
              <a:rPr lang="en-US" sz="1600" b="1" dirty="0">
                <a:solidFill>
                  <a:srgbClr val="4B2E2E"/>
                </a:solidFill>
              </a:rPr>
              <a:t>Brewed Black Tea </a:t>
            </a:r>
            <a:r>
              <a:rPr lang="en-US" sz="1600" dirty="0">
                <a:solidFill>
                  <a:schemeClr val="bg1"/>
                </a:solidFill>
              </a:rPr>
              <a:t>– $47,932.00  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b="1" dirty="0">
                <a:solidFill>
                  <a:srgbClr val="4B2E2E"/>
                </a:solidFill>
              </a:rPr>
              <a:t>Insight</a:t>
            </a:r>
            <a:r>
              <a:rPr lang="en-US" sz="1600" dirty="0">
                <a:solidFill>
                  <a:schemeClr val="bg1"/>
                </a:solidFill>
              </a:rPr>
              <a:t>: Espresso is the star performer.  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b="1" dirty="0">
                <a:solidFill>
                  <a:srgbClr val="4B2E2E"/>
                </a:solidFill>
              </a:rPr>
              <a:t>Recommendation</a:t>
            </a:r>
            <a:r>
              <a:rPr lang="en-US" sz="1600" dirty="0">
                <a:solidFill>
                  <a:schemeClr val="bg1"/>
                </a:solidFill>
              </a:rPr>
              <a:t>: Promote top products with seasonal campaigns.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580912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ffee Background Stock Vector (Royalty Free) 112476482 | Shutterstock">
            <a:extLst>
              <a:ext uri="{FF2B5EF4-FFF2-40B4-BE49-F238E27FC236}">
                <a16:creationId xmlns:a16="http://schemas.microsoft.com/office/drawing/2014/main" id="{A43DD855-0179-A24B-E7D8-103D8E095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C642225-ABE7-7696-A506-ABF6D945102C}"/>
              </a:ext>
            </a:extLst>
          </p:cNvPr>
          <p:cNvSpPr txBox="1"/>
          <p:nvPr/>
        </p:nvSpPr>
        <p:spPr>
          <a:xfrm>
            <a:off x="73152" y="1097280"/>
            <a:ext cx="54132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b="1" dirty="0">
                <a:solidFill>
                  <a:srgbClr val="4B2E2E"/>
                </a:solidFill>
              </a:rPr>
              <a:t>Weekday Footfall</a:t>
            </a:r>
            <a:endParaRPr lang="en-IN" sz="5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D835DA-D4F6-CF3B-9EA3-D5B9989CF54B}"/>
              </a:ext>
            </a:extLst>
          </p:cNvPr>
          <p:cNvSpPr txBox="1"/>
          <p:nvPr/>
        </p:nvSpPr>
        <p:spPr>
          <a:xfrm>
            <a:off x="73152" y="2885473"/>
            <a:ext cx="1178661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Footfall is steady across weekdays (21K+ daily), slightly lower on weekends. </a:t>
            </a:r>
          </a:p>
          <a:p>
            <a:r>
              <a:rPr lang="en-US" sz="2800" dirty="0">
                <a:solidFill>
                  <a:schemeClr val="bg1"/>
                </a:solidFill>
              </a:rPr>
              <a:t> </a:t>
            </a:r>
          </a:p>
          <a:p>
            <a:r>
              <a:rPr lang="en-US" sz="3600" b="1" dirty="0">
                <a:solidFill>
                  <a:srgbClr val="4B2E2E"/>
                </a:solidFill>
              </a:rPr>
              <a:t>Insight</a:t>
            </a:r>
            <a:r>
              <a:rPr lang="en-US" sz="2800" dirty="0">
                <a:solidFill>
                  <a:schemeClr val="bg1"/>
                </a:solidFill>
              </a:rPr>
              <a:t>: Consistent customer engagement during workdays.</a:t>
            </a:r>
          </a:p>
          <a:p>
            <a:r>
              <a:rPr lang="en-US" sz="2800" dirty="0">
                <a:solidFill>
                  <a:schemeClr val="bg1"/>
                </a:solidFill>
              </a:rPr>
              <a:t>  </a:t>
            </a:r>
          </a:p>
          <a:p>
            <a:r>
              <a:rPr lang="en-US" sz="3600" b="1" dirty="0">
                <a:solidFill>
                  <a:srgbClr val="4B2E2E"/>
                </a:solidFill>
              </a:rPr>
              <a:t>Recommendation</a:t>
            </a:r>
            <a:r>
              <a:rPr lang="en-US" sz="2800" dirty="0">
                <a:solidFill>
                  <a:schemeClr val="bg1"/>
                </a:solidFill>
              </a:rPr>
              <a:t>: Weekend promotions to boost traffic.</a:t>
            </a:r>
          </a:p>
          <a:p>
            <a:endParaRPr lang="en-IN" sz="2800" dirty="0">
              <a:solidFill>
                <a:schemeClr val="bg1"/>
              </a:solidFill>
            </a:endParaRP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082661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6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A30A54-743F-FE8B-A173-DD5F95EFE7EF}"/>
              </a:ext>
            </a:extLst>
          </p:cNvPr>
          <p:cNvSpPr txBox="1"/>
          <p:nvPr/>
        </p:nvSpPr>
        <p:spPr>
          <a:xfrm>
            <a:off x="0" y="0"/>
            <a:ext cx="121920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I built a dashboard to explore sales patterns for a coffee shop. It showed morning hours as the peak sales window, coffee as the primary revenue driver, and Hell’s Kitchen as the top‑performing store. I used Excel charts and PivotTables, then applied storytelling techniques to make the findings actionable. I enjoyed discovering the steady weekday footfall — it helped me prioritize staffing and promotions for slow afternoons.</a:t>
            </a:r>
          </a:p>
          <a:p>
            <a:endParaRPr lang="en-IN" i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r>
              <a:rPr lang="en-IN" i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Dashboard Highlights:</a:t>
            </a:r>
          </a:p>
          <a:p>
            <a:endParaRPr lang="en-IN" i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 marL="285750" indent="-285750">
              <a:buFontTx/>
              <a:buChar char="-"/>
            </a:pPr>
            <a:r>
              <a:rPr lang="en-US" i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Morning hours as peak sales.     </a:t>
            </a:r>
          </a:p>
          <a:p>
            <a:r>
              <a:rPr lang="en-US" i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                                           </a:t>
            </a:r>
          </a:p>
          <a:p>
            <a:pPr marL="285750" indent="-285750">
              <a:buFontTx/>
              <a:buChar char="-"/>
            </a:pPr>
            <a:r>
              <a:rPr lang="en-US" i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Coffee as the dominant revenue category.</a:t>
            </a:r>
          </a:p>
          <a:p>
            <a:endParaRPr lang="en-US" i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 marL="285750" indent="-285750">
              <a:buFontTx/>
              <a:buChar char="-"/>
            </a:pPr>
            <a:r>
              <a:rPr lang="en-US" i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Hell’s Kitchen store leading in performance.</a:t>
            </a:r>
          </a:p>
          <a:p>
            <a:endParaRPr lang="en-US" i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 marL="285750" indent="-285750">
              <a:buFontTx/>
              <a:buChar char="-"/>
            </a:pPr>
            <a:r>
              <a:rPr lang="en-US" i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Barista Espresso as the top product.</a:t>
            </a:r>
          </a:p>
          <a:p>
            <a:endParaRPr lang="en-IN" i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endParaRPr lang="en-IN" i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endParaRPr lang="en-IN" i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r>
              <a:rPr lang="en-IN" i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This project strengthened my Excel and storytelling skills for business decisions.</a:t>
            </a:r>
          </a:p>
        </p:txBody>
      </p:sp>
    </p:spTree>
    <p:extLst>
      <p:ext uri="{BB962C8B-B14F-4D97-AF65-F5344CB8AC3E}">
        <p14:creationId xmlns:p14="http://schemas.microsoft.com/office/powerpoint/2010/main" val="556372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593</TotalTime>
  <Words>470</Words>
  <Application>Microsoft Office PowerPoint</Application>
  <PresentationFormat>Widescreen</PresentationFormat>
  <Paragraphs>82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alikhan7415916@outlook.com</dc:creator>
  <cp:lastModifiedBy>alikhan7415916@outlook.com</cp:lastModifiedBy>
  <cp:revision>2</cp:revision>
  <dcterms:created xsi:type="dcterms:W3CDTF">2026-06-16T06:22:59Z</dcterms:created>
  <dcterms:modified xsi:type="dcterms:W3CDTF">2026-06-22T11:10:47Z</dcterms:modified>
</cp:coreProperties>
</file>